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73" r:id="rId9"/>
    <p:sldId id="261" r:id="rId10"/>
    <p:sldId id="274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867" y="1038225"/>
            <a:ext cx="7772400" cy="1470025"/>
          </a:xfrm>
        </p:spPr>
        <p:txBody>
          <a:bodyPr>
            <a:normAutofit/>
          </a:bodyPr>
          <a:lstStyle/>
          <a:p>
            <a:r>
              <a:rPr sz="3200" dirty="0" err="1"/>
              <a:t>Bluestock</a:t>
            </a:r>
            <a:r>
              <a:rPr sz="3200" dirty="0"/>
              <a:t> 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667" y="3009900"/>
            <a:ext cx="6400800" cy="1752600"/>
          </a:xfrm>
        </p:spPr>
        <p:txBody>
          <a:bodyPr>
            <a:noAutofit/>
          </a:bodyPr>
          <a:lstStyle/>
          <a:p>
            <a:r>
              <a:rPr sz="1600" dirty="0"/>
              <a:t>Data Engineering • Analytics • Power BI Dashboard</a:t>
            </a:r>
          </a:p>
          <a:p>
            <a:endParaRPr sz="1600" dirty="0"/>
          </a:p>
          <a:p>
            <a:r>
              <a:rPr sz="1600" dirty="0"/>
              <a:t>Presented By: Anil Velma</a:t>
            </a:r>
          </a:p>
          <a:p>
            <a:endParaRPr sz="1600" dirty="0"/>
          </a:p>
          <a:p>
            <a:r>
              <a:rPr sz="1600" dirty="0"/>
              <a:t>Technologies:</a:t>
            </a:r>
          </a:p>
          <a:p>
            <a:r>
              <a:rPr sz="1600" dirty="0"/>
              <a:t>Python, Pandas, SQLite, Power BI, NumPy,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Objective:</a:t>
            </a:r>
          </a:p>
          <a:p>
            <a:r>
              <a:rPr sz="1600" dirty="0"/>
              <a:t>Analyze mutual fund industry data and build an end-to-end analytics platform.</a:t>
            </a:r>
          </a:p>
          <a:p>
            <a:endParaRPr sz="1600" dirty="0"/>
          </a:p>
          <a:p>
            <a:r>
              <a:rPr sz="1600" dirty="0"/>
              <a:t>Challenges:</a:t>
            </a:r>
          </a:p>
          <a:p>
            <a:r>
              <a:rPr sz="1600" dirty="0"/>
              <a:t>• Large volume of fund data</a:t>
            </a:r>
          </a:p>
          <a:p>
            <a:r>
              <a:rPr sz="1600" dirty="0"/>
              <a:t>• Data quality inconsistencies</a:t>
            </a:r>
          </a:p>
          <a:p>
            <a:r>
              <a:rPr sz="1600" dirty="0"/>
              <a:t>• Need for risk-adjusted performance analysis</a:t>
            </a:r>
          </a:p>
          <a:p>
            <a:r>
              <a:rPr sz="1600" dirty="0"/>
              <a:t>• Lack of centralized visual insights</a:t>
            </a:r>
          </a:p>
          <a:p>
            <a:endParaRPr dirty="0"/>
          </a:p>
          <a:p>
            <a:r>
              <a:rPr sz="1600" dirty="0"/>
              <a:t>Solution:</a:t>
            </a:r>
          </a:p>
          <a:p>
            <a:r>
              <a:rPr sz="1600" dirty="0"/>
              <a:t>Develop a complete data pipeline, analytics engine, and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Data Sources → Data Ingestion → Data Cleaning &amp; Transformation → SQLite Database → EDA &amp; Performance Analytics → Power BI Dashboard → Business Insights</a:t>
            </a:r>
          </a:p>
          <a:p>
            <a:endParaRPr sz="1600" dirty="0"/>
          </a:p>
          <a:p>
            <a:r>
              <a:rPr sz="1600" dirty="0"/>
              <a:t>• 8 datasets integrated</a:t>
            </a:r>
          </a:p>
          <a:p>
            <a:r>
              <a:rPr sz="1600" dirty="0"/>
              <a:t>• 40+ mutual fund schemes analyzed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Data Engineering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Key Activities:</a:t>
            </a:r>
          </a:p>
          <a:p>
            <a:r>
              <a:rPr sz="1600" dirty="0"/>
              <a:t>• Imported raw mutual fund datasets</a:t>
            </a:r>
          </a:p>
          <a:p>
            <a:r>
              <a:rPr sz="1600" dirty="0"/>
              <a:t>• Cleaned missing and inconsistent values</a:t>
            </a:r>
          </a:p>
          <a:p>
            <a:r>
              <a:rPr sz="1600" dirty="0"/>
              <a:t>• Standardized date formats</a:t>
            </a:r>
          </a:p>
          <a:p>
            <a:r>
              <a:rPr sz="1600" dirty="0"/>
              <a:t>• Built automated ETL pipeline</a:t>
            </a:r>
          </a:p>
          <a:p>
            <a:r>
              <a:rPr sz="1600" dirty="0"/>
              <a:t>• Loaded processed data into SQLite</a:t>
            </a:r>
          </a:p>
          <a:p>
            <a:endParaRPr sz="1600" dirty="0"/>
          </a:p>
          <a:p>
            <a:r>
              <a:rPr sz="1600" dirty="0"/>
              <a:t>Deliverables:</a:t>
            </a:r>
          </a:p>
          <a:p>
            <a:r>
              <a:rPr sz="1600" dirty="0"/>
              <a:t>✓ Cleaned CSVs</a:t>
            </a:r>
          </a:p>
          <a:p>
            <a:r>
              <a:rPr sz="1600" dirty="0"/>
              <a:t>✓ SQLite database</a:t>
            </a:r>
          </a:p>
          <a:p>
            <a:r>
              <a:rPr sz="1600" dirty="0"/>
              <a:t>✓ Automated ETL 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sz="1600" dirty="0"/>
              <a:t>AUM Growth Chart</a:t>
            </a: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Sta</a:t>
            </a:r>
            <a:r>
              <a:rPr sz="1600" dirty="0"/>
              <a:t>te Investment Distribution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sz="1600" dirty="0"/>
              <a:t> Sector Allocation Chart</a:t>
            </a:r>
            <a:endParaRPr dirty="0"/>
          </a:p>
          <a:p>
            <a:r>
              <a:rPr sz="1600" dirty="0"/>
              <a:t>Key Findings:</a:t>
            </a:r>
          </a:p>
          <a:p>
            <a:r>
              <a:rPr sz="1600" dirty="0"/>
              <a:t>• Industry AUM showed strong growth</a:t>
            </a:r>
          </a:p>
          <a:p>
            <a:r>
              <a:rPr sz="1600" dirty="0"/>
              <a:t>• Investments concentrated in major states</a:t>
            </a:r>
          </a:p>
          <a:p>
            <a:r>
              <a:rPr sz="1600" dirty="0"/>
              <a:t>• Equity categories dominate fund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AB305-4969-A8C3-944D-691D0F3F2BB1}"/>
              </a:ext>
            </a:extLst>
          </p:cNvPr>
          <p:cNvSpPr txBox="1"/>
          <p:nvPr/>
        </p:nvSpPr>
        <p:spPr>
          <a:xfrm>
            <a:off x="787401" y="447301"/>
            <a:ext cx="2153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• AUM Growth Chart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696E7-DB10-5E34-2D01-AE71E088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6" y="1470819"/>
            <a:ext cx="9102684" cy="391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89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936E3-933F-EEA2-81A8-4C921A0A58FF}"/>
              </a:ext>
            </a:extLst>
          </p:cNvPr>
          <p:cNvSpPr txBox="1"/>
          <p:nvPr/>
        </p:nvSpPr>
        <p:spPr>
          <a:xfrm>
            <a:off x="745067" y="482600"/>
            <a:ext cx="3100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• State Investment Distribution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7B55C-FA15-8F70-C954-411388BD8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128931"/>
            <a:ext cx="8760262" cy="473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3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B765DE-04E7-C06F-649C-4A92FDF1502A}"/>
              </a:ext>
            </a:extLst>
          </p:cNvPr>
          <p:cNvSpPr txBox="1"/>
          <p:nvPr/>
        </p:nvSpPr>
        <p:spPr>
          <a:xfrm>
            <a:off x="575734" y="626533"/>
            <a:ext cx="2505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• Sector Allocation Chart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CD330-AC08-E372-F442-8FB2FE83A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134" y="1111998"/>
            <a:ext cx="4783666" cy="478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34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Metrics Computed:</a:t>
            </a:r>
          </a:p>
          <a:p>
            <a:r>
              <a:rPr sz="1600" dirty="0"/>
              <a:t>• CAGR</a:t>
            </a:r>
          </a:p>
          <a:p>
            <a:r>
              <a:rPr sz="1600" dirty="0"/>
              <a:t>• Sharpe Ratio</a:t>
            </a:r>
          </a:p>
          <a:p>
            <a:r>
              <a:rPr sz="1600" dirty="0"/>
              <a:t>• Sortino Ratio</a:t>
            </a:r>
          </a:p>
          <a:p>
            <a:r>
              <a:rPr sz="1600" dirty="0"/>
              <a:t>• Alpha</a:t>
            </a:r>
          </a:p>
          <a:p>
            <a:r>
              <a:rPr sz="1600" dirty="0"/>
              <a:t>• Beta</a:t>
            </a:r>
          </a:p>
          <a:p>
            <a:r>
              <a:rPr sz="1600" dirty="0"/>
              <a:t>• Maximum Drawdown</a:t>
            </a:r>
          </a:p>
          <a:p>
            <a:endParaRPr sz="1600" dirty="0"/>
          </a:p>
          <a:p>
            <a:r>
              <a:rPr sz="1600" dirty="0"/>
              <a:t>Insert:</a:t>
            </a:r>
          </a:p>
          <a:p>
            <a:r>
              <a:rPr sz="1600" dirty="0"/>
              <a:t>• Top 10 CAGR</a:t>
            </a:r>
          </a:p>
          <a:p>
            <a:r>
              <a:rPr sz="1600" dirty="0"/>
              <a:t>• Top 10 Sharpe Ratio</a:t>
            </a:r>
          </a:p>
          <a:p>
            <a:r>
              <a:rPr sz="1600" dirty="0"/>
              <a:t>• Top 10 Alpha</a:t>
            </a:r>
          </a:p>
          <a:p>
            <a:endParaRPr sz="1700" dirty="0"/>
          </a:p>
          <a:p>
            <a:r>
              <a:rPr sz="1700" dirty="0"/>
              <a:t>Key Finding:</a:t>
            </a:r>
            <a:endParaRPr sz="1600" dirty="0"/>
          </a:p>
          <a:p>
            <a:r>
              <a:rPr sz="1600" dirty="0"/>
              <a:t>Risk-adjusted rankings provide better fund selection than return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BB6E51-4D63-4385-84F8-20312AD9C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267" y="972265"/>
            <a:ext cx="4284132" cy="19470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5E44EB-A8AF-8D15-D900-63772165F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" y="972265"/>
            <a:ext cx="3623733" cy="18118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A2F0F1-63A8-F337-2C5B-70B7F63F3AD0}"/>
              </a:ext>
            </a:extLst>
          </p:cNvPr>
          <p:cNvSpPr txBox="1"/>
          <p:nvPr/>
        </p:nvSpPr>
        <p:spPr>
          <a:xfrm>
            <a:off x="254000" y="500218"/>
            <a:ext cx="1385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Top 10 CAGR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FA13A1-DB2A-8C19-4AA4-DEA8B9F2642C}"/>
              </a:ext>
            </a:extLst>
          </p:cNvPr>
          <p:cNvSpPr txBox="1"/>
          <p:nvPr/>
        </p:nvSpPr>
        <p:spPr>
          <a:xfrm>
            <a:off x="4572000" y="500218"/>
            <a:ext cx="2053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Top 10 Sharpe Ratio</a:t>
            </a:r>
          </a:p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68EBF11-9F28-F94F-E065-F2D57506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833" y="4004733"/>
            <a:ext cx="5240867" cy="26204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2E33B83-4CC2-4099-826E-24B7DE0A1930}"/>
              </a:ext>
            </a:extLst>
          </p:cNvPr>
          <p:cNvSpPr txBox="1"/>
          <p:nvPr/>
        </p:nvSpPr>
        <p:spPr>
          <a:xfrm>
            <a:off x="1380066" y="3557432"/>
            <a:ext cx="1400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Top 10 Alpha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440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Risk Analytics:</a:t>
            </a:r>
          </a:p>
          <a:p>
            <a:r>
              <a:rPr sz="1600" dirty="0"/>
              <a:t>• Rolling Sharpe Ratio</a:t>
            </a:r>
          </a:p>
          <a:p>
            <a:r>
              <a:rPr sz="1600" dirty="0"/>
              <a:t>• Drawdown Analysis</a:t>
            </a:r>
          </a:p>
          <a:p>
            <a:r>
              <a:rPr sz="1600" dirty="0"/>
              <a:t>• Volatility Assessment</a:t>
            </a:r>
          </a:p>
          <a:p>
            <a:endParaRPr sz="1600" dirty="0"/>
          </a:p>
          <a:p>
            <a:r>
              <a:rPr sz="1600" dirty="0"/>
              <a:t>Insert: Rolling Sharpe Chart</a:t>
            </a:r>
          </a:p>
          <a:p>
            <a:endParaRPr sz="1600" dirty="0"/>
          </a:p>
          <a:p>
            <a:r>
              <a:rPr sz="1600" dirty="0"/>
              <a:t>Insight:</a:t>
            </a:r>
          </a:p>
          <a:p>
            <a:r>
              <a:rPr sz="1600" dirty="0"/>
              <a:t>Consistent funds maintain stronger risk-adjusted performance across market cycles.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Dashboard Page 1 –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480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600" dirty="0"/>
          </a:p>
          <a:p>
            <a:r>
              <a:rPr sz="1600" dirty="0"/>
              <a:t>Features:</a:t>
            </a:r>
          </a:p>
          <a:p>
            <a:r>
              <a:rPr sz="1600" dirty="0"/>
              <a:t>• Total AUM KPI</a:t>
            </a:r>
          </a:p>
          <a:p>
            <a:r>
              <a:rPr sz="1600" dirty="0"/>
              <a:t>• SIP Inflow KPI</a:t>
            </a:r>
          </a:p>
          <a:p>
            <a:r>
              <a:rPr sz="1600" dirty="0"/>
              <a:t>• Folio Count KPI</a:t>
            </a:r>
          </a:p>
          <a:p>
            <a:r>
              <a:rPr sz="1600" dirty="0"/>
              <a:t>• Industry AUM Trend</a:t>
            </a:r>
          </a:p>
          <a:p>
            <a:r>
              <a:rPr sz="1600" dirty="0"/>
              <a:t>• AMC Comparison</a:t>
            </a:r>
          </a:p>
          <a:p>
            <a:endParaRPr lang="en-US" sz="1600" dirty="0"/>
          </a:p>
          <a:p>
            <a:endParaRPr sz="1600" dirty="0"/>
          </a:p>
          <a:p>
            <a:r>
              <a:rPr sz="1600" dirty="0"/>
              <a:t>Business Value:</a:t>
            </a:r>
          </a:p>
          <a:p>
            <a:r>
              <a:rPr sz="1600" dirty="0"/>
              <a:t>Provides a high-level industry health overview.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6733A-2843-24FA-4329-293F55004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867" y="1381742"/>
            <a:ext cx="5012266" cy="28948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Dashboard Page 2 – Fund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733" y="1324505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900" dirty="0"/>
              <a:t>Features:</a:t>
            </a:r>
          </a:p>
          <a:p>
            <a:r>
              <a:rPr sz="1900" dirty="0"/>
              <a:t>• Risk vs Return Scatter Plot</a:t>
            </a:r>
          </a:p>
          <a:p>
            <a:r>
              <a:rPr sz="1900" dirty="0"/>
              <a:t>• Fund Scorecard Ranking</a:t>
            </a:r>
          </a:p>
          <a:p>
            <a:r>
              <a:rPr sz="1900" dirty="0"/>
              <a:t>• NAV vs Benchmark</a:t>
            </a:r>
          </a:p>
          <a:p>
            <a:r>
              <a:rPr sz="1900" dirty="0"/>
              <a:t>• Dynamic Slicers</a:t>
            </a:r>
          </a:p>
          <a:p>
            <a:endParaRPr lang="en-US" sz="1900" dirty="0"/>
          </a:p>
          <a:p>
            <a:endParaRPr lang="en-US" sz="1900" dirty="0"/>
          </a:p>
          <a:p>
            <a:endParaRPr sz="1900" dirty="0"/>
          </a:p>
          <a:p>
            <a:r>
              <a:rPr sz="1900" dirty="0"/>
              <a:t>Business Value:</a:t>
            </a:r>
          </a:p>
          <a:p>
            <a:r>
              <a:rPr sz="1900" dirty="0"/>
              <a:t>Enables comparison of funds based on returns and risk.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0B593-3E03-8219-F449-DA8C5216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667" y="1417638"/>
            <a:ext cx="5105400" cy="29850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Dashboard </a:t>
            </a:r>
            <a:r>
              <a:rPr lang="en-IN" sz="3200" dirty="0"/>
              <a:t>3 – Investor Analytics</a:t>
            </a:r>
            <a:r>
              <a:rPr sz="3200" dirty="0"/>
              <a:t>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Features:</a:t>
            </a:r>
          </a:p>
          <a:p>
            <a:r>
              <a:rPr sz="1600" dirty="0"/>
              <a:t>• State-wise Investments</a:t>
            </a:r>
          </a:p>
          <a:p>
            <a:r>
              <a:rPr sz="1600" dirty="0"/>
              <a:t>• Transaction Type Distribution</a:t>
            </a:r>
          </a:p>
          <a:p>
            <a:r>
              <a:rPr sz="1600" dirty="0"/>
              <a:t>• Age Group Analysis</a:t>
            </a:r>
          </a:p>
          <a:p>
            <a:r>
              <a:rPr sz="1600" dirty="0"/>
              <a:t>• Monthly Investment Trend</a:t>
            </a:r>
          </a:p>
          <a:p>
            <a:endParaRPr lang="en-US" sz="1600" dirty="0"/>
          </a:p>
          <a:p>
            <a:endParaRPr lang="en-IN" sz="1600" dirty="0"/>
          </a:p>
          <a:p>
            <a:endParaRPr sz="1600" dirty="0"/>
          </a:p>
          <a:p>
            <a:r>
              <a:rPr sz="1600" dirty="0"/>
              <a:t>Business Value:</a:t>
            </a:r>
          </a:p>
          <a:p>
            <a:r>
              <a:rPr sz="1600" dirty="0"/>
              <a:t>Understand investor behavior and demographics.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BF5DB-02C6-1160-4DF6-D79FCEEA5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1" y="1600200"/>
            <a:ext cx="5046132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Dashboard Page 4 – SIP &amp; 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Features:</a:t>
            </a:r>
          </a:p>
          <a:p>
            <a:r>
              <a:rPr sz="1600" dirty="0"/>
              <a:t>• SIP Inflow Trend</a:t>
            </a:r>
          </a:p>
          <a:p>
            <a:r>
              <a:rPr sz="1600" dirty="0"/>
              <a:t>• NIFTY50 Comparison</a:t>
            </a:r>
          </a:p>
          <a:p>
            <a:r>
              <a:rPr sz="1600" dirty="0"/>
              <a:t>• Category Inflows</a:t>
            </a:r>
          </a:p>
          <a:p>
            <a:r>
              <a:rPr sz="1600" dirty="0"/>
              <a:t>• Market Trend Analysis</a:t>
            </a:r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sz="1600" dirty="0"/>
          </a:p>
          <a:p>
            <a:r>
              <a:rPr sz="1600" dirty="0"/>
              <a:t>Business Value:</a:t>
            </a:r>
          </a:p>
          <a:p>
            <a:r>
              <a:rPr sz="1600" dirty="0"/>
              <a:t>Tracks investor sentiment and market participation.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6F0E2-F682-D3CC-E961-4D6082BB4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600200"/>
            <a:ext cx="5122333" cy="27818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• Mutual fund industry showed strong AUM growth.</a:t>
            </a:r>
          </a:p>
          <a:p>
            <a:r>
              <a:rPr sz="1600" dirty="0"/>
              <a:t>• Equity-oriented funds generated superior returns.</a:t>
            </a:r>
          </a:p>
          <a:p>
            <a:r>
              <a:rPr sz="1600" dirty="0"/>
              <a:t>• Sharpe Ratio identified funds with better risk-adjusted performance.</a:t>
            </a:r>
          </a:p>
          <a:p>
            <a:r>
              <a:rPr sz="1600" dirty="0"/>
              <a:t>• SIP participation increased significantly.</a:t>
            </a:r>
          </a:p>
          <a:p>
            <a:r>
              <a:rPr sz="1600" dirty="0"/>
              <a:t>• Dashboard enables real-time business insights.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/>
              <a:t>Project Achievements:</a:t>
            </a:r>
          </a:p>
          <a:p>
            <a:r>
              <a:rPr sz="1800" dirty="0"/>
              <a:t>✓ End-to-End ETL Pipeline</a:t>
            </a:r>
          </a:p>
          <a:p>
            <a:r>
              <a:rPr sz="1800" dirty="0"/>
              <a:t>✓ SQLite Data Warehouse</a:t>
            </a:r>
          </a:p>
          <a:p>
            <a:r>
              <a:rPr sz="1800" dirty="0"/>
              <a:t>✓ EDA &amp; Performance Analytics</a:t>
            </a:r>
          </a:p>
          <a:p>
            <a:r>
              <a:rPr sz="1800" dirty="0"/>
              <a:t>✓ Advanced Risk Metrics</a:t>
            </a:r>
          </a:p>
          <a:p>
            <a:r>
              <a:rPr sz="1800" dirty="0"/>
              <a:t>✓ Interactive Power BI Dashboard</a:t>
            </a:r>
          </a:p>
          <a:p>
            <a:r>
              <a:rPr sz="1800" dirty="0"/>
              <a:t>✓ Business Insight Generation</a:t>
            </a:r>
          </a:p>
          <a:p>
            <a:endParaRPr sz="1800" dirty="0"/>
          </a:p>
          <a:p>
            <a:r>
              <a:rPr sz="1800" dirty="0"/>
              <a:t>Future Enhancements:</a:t>
            </a:r>
          </a:p>
          <a:p>
            <a:r>
              <a:rPr sz="1800" dirty="0"/>
              <a:t>• Live NAV Integration</a:t>
            </a:r>
          </a:p>
          <a:p>
            <a:r>
              <a:rPr sz="1800" dirty="0"/>
              <a:t>• </a:t>
            </a:r>
            <a:r>
              <a:rPr sz="1800" dirty="0" err="1"/>
              <a:t>Streamlit</a:t>
            </a:r>
            <a:r>
              <a:rPr sz="1800" dirty="0"/>
              <a:t> Deployment</a:t>
            </a:r>
          </a:p>
          <a:p>
            <a:r>
              <a:rPr sz="1800" dirty="0"/>
              <a:t>• Portfolio Optimization</a:t>
            </a:r>
          </a:p>
          <a:p>
            <a:r>
              <a:rPr sz="1800" dirty="0"/>
              <a:t>• Automated Reporting</a:t>
            </a:r>
          </a:p>
          <a:p>
            <a:endParaRPr sz="1800" dirty="0"/>
          </a:p>
          <a:p>
            <a:r>
              <a:rPr sz="18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537</Words>
  <Application>Microsoft Office PowerPoint</Application>
  <PresentationFormat>On-screen Show (4:3)</PresentationFormat>
  <Paragraphs>144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Bluestock Mutual Fund Analytics Platform</vt:lpstr>
      <vt:lpstr>Business Problem</vt:lpstr>
      <vt:lpstr>Project Architecture</vt:lpstr>
      <vt:lpstr>Data Engineering Pipeline</vt:lpstr>
      <vt:lpstr>Exploratory Data Analysis</vt:lpstr>
      <vt:lpstr>PowerPoint Presentation</vt:lpstr>
      <vt:lpstr>PowerPoint Presentation</vt:lpstr>
      <vt:lpstr>PowerPoint Presentation</vt:lpstr>
      <vt:lpstr>Performance Analytics</vt:lpstr>
      <vt:lpstr>PowerPoint Presentation</vt:lpstr>
      <vt:lpstr>Advanced Analytics</vt:lpstr>
      <vt:lpstr>Dashboard Page 1 – Industry Overview</vt:lpstr>
      <vt:lpstr>Dashboard Page 2 – Fund Performance</vt:lpstr>
      <vt:lpstr>Dashboard 3 – Investor AnalyticsPage</vt:lpstr>
      <vt:lpstr>Dashboard Page 4 – SIP &amp; Market Trends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Anil Velma</cp:lastModifiedBy>
  <cp:revision>2</cp:revision>
  <dcterms:created xsi:type="dcterms:W3CDTF">2013-01-27T09:14:16Z</dcterms:created>
  <dcterms:modified xsi:type="dcterms:W3CDTF">2026-06-11T17:27:03Z</dcterms:modified>
  <cp:category/>
</cp:coreProperties>
</file>